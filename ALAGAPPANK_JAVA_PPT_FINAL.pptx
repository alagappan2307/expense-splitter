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327" r:id="rId3"/>
    <p:sldId id="348" r:id="rId5"/>
    <p:sldId id="353" r:id="rId6"/>
    <p:sldId id="349" r:id="rId7"/>
    <p:sldId id="350" r:id="rId8"/>
    <p:sldId id="332" r:id="rId9"/>
    <p:sldId id="361" r:id="rId10"/>
    <p:sldId id="333" r:id="rId11"/>
    <p:sldId id="335" r:id="rId12"/>
    <p:sldId id="354" r:id="rId13"/>
    <p:sldId id="338" r:id="rId14"/>
    <p:sldId id="355" r:id="rId15"/>
    <p:sldId id="340" r:id="rId16"/>
    <p:sldId id="356" r:id="rId17"/>
    <p:sldId id="347" r:id="rId18"/>
    <p:sldId id="359" r:id="rId19"/>
    <p:sldId id="352" r:id="rId20"/>
    <p:sldId id="360" r:id="rId21"/>
    <p:sldId id="344" r:id="rId22"/>
  </p:sldIdLst>
  <p:sldSz cx="12192000" cy="68580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5" name="Shape 2"/>
        <p:cNvGrpSpPr/>
        <p:nvPr/>
      </p:nvGrpSpPr>
      <p:grpSpPr>
        <a:xfrm>
          <a:off x="0" y="0"/>
          <a:ext cx="0" cy="0"/>
          <a:chOff x="0" y="0"/>
          <a:chExt cx="0" cy="0"/>
        </a:xfrm>
      </p:grpSpPr>
      <p:sp>
        <p:nvSpPr>
          <p:cNvPr id="1048720"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1"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2"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23"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4"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5"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90"/>
        <p:cNvGrpSpPr/>
        <p:nvPr/>
      </p:nvGrpSpPr>
      <p:grpSpPr>
        <a:xfrm>
          <a:off x="0" y="0"/>
          <a:ext cx="0" cy="0"/>
          <a:chOff x="0" y="0"/>
          <a:chExt cx="0" cy="0"/>
        </a:xfrm>
      </p:grpSpPr>
      <p:sp>
        <p:nvSpPr>
          <p:cNvPr id="1048626" name="Google Shape;9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27"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 name="Shape 137"/>
        <p:cNvGrpSpPr/>
        <p:nvPr/>
      </p:nvGrpSpPr>
      <p:grpSpPr>
        <a:xfrm>
          <a:off x="0" y="0"/>
          <a:ext cx="0" cy="0"/>
          <a:chOff x="0" y="0"/>
          <a:chExt cx="0" cy="0"/>
        </a:xfrm>
      </p:grpSpPr>
      <p:sp>
        <p:nvSpPr>
          <p:cNvPr id="104858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8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165"/>
        <p:cNvGrpSpPr/>
        <p:nvPr/>
      </p:nvGrpSpPr>
      <p:grpSpPr>
        <a:xfrm>
          <a:off x="0" y="0"/>
          <a:ext cx="0" cy="0"/>
          <a:chOff x="0" y="0"/>
          <a:chExt cx="0" cy="0"/>
        </a:xfrm>
      </p:grpSpPr>
      <p:sp>
        <p:nvSpPr>
          <p:cNvPr id="1048613" name="Google Shape;166;g3d396cbf18d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14" name="Google Shape;167;g3d396cbf18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165"/>
        <p:cNvGrpSpPr/>
        <p:nvPr/>
      </p:nvGrpSpPr>
      <p:grpSpPr>
        <a:xfrm>
          <a:off x="0" y="0"/>
          <a:ext cx="0" cy="0"/>
          <a:chOff x="0" y="0"/>
          <a:chExt cx="0" cy="0"/>
        </a:xfrm>
      </p:grpSpPr>
      <p:sp>
        <p:nvSpPr>
          <p:cNvPr id="1048613" name="Google Shape;166;g3d396cbf18d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14" name="Google Shape;167;g3d396cbf18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 name="Shape 185"/>
        <p:cNvGrpSpPr/>
        <p:nvPr/>
      </p:nvGrpSpPr>
      <p:grpSpPr>
        <a:xfrm>
          <a:off x="0" y="0"/>
          <a:ext cx="0" cy="0"/>
          <a:chOff x="0" y="0"/>
          <a:chExt cx="0" cy="0"/>
        </a:xfrm>
      </p:grpSpPr>
      <p:sp>
        <p:nvSpPr>
          <p:cNvPr id="1048644" name="Google Shape;186;g3d396cbf18d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45" name="Google Shape;187;g3d396cbf18d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 name="Shape 241"/>
        <p:cNvGrpSpPr/>
        <p:nvPr/>
      </p:nvGrpSpPr>
      <p:grpSpPr>
        <a:xfrm>
          <a:off x="0" y="0"/>
          <a:ext cx="0" cy="0"/>
          <a:chOff x="0" y="0"/>
          <a:chExt cx="0" cy="0"/>
        </a:xfrm>
      </p:grpSpPr>
      <p:sp>
        <p:nvSpPr>
          <p:cNvPr id="1048668" name="Google Shape;24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69" name="Google Shape;24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5" name="Shape 15"/>
        <p:cNvGrpSpPr/>
        <p:nvPr/>
      </p:nvGrpSpPr>
      <p:grpSpPr>
        <a:xfrm>
          <a:off x="0" y="0"/>
          <a:ext cx="0" cy="0"/>
          <a:chOff x="0" y="0"/>
          <a:chExt cx="0" cy="0"/>
        </a:xfrm>
      </p:grpSpPr>
      <p:sp>
        <p:nvSpPr>
          <p:cNvPr id="1048581" name="Google Shape;1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2" name="Google Shape;1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583" name="Google Shape;1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4" name="Google Shape;1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5" name="Google Shape;2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58" name="Shape 21"/>
        <p:cNvGrpSpPr/>
        <p:nvPr/>
      </p:nvGrpSpPr>
      <p:grpSpPr>
        <a:xfrm>
          <a:off x="0" y="0"/>
          <a:ext cx="0" cy="0"/>
          <a:chOff x="0" y="0"/>
          <a:chExt cx="0" cy="0"/>
        </a:xfrm>
      </p:grpSpPr>
      <p:sp>
        <p:nvSpPr>
          <p:cNvPr id="1048628" name="Google Shape;22;p12"/>
          <p:cNvSpPr txBox="1">
            <a:spLocks noGrp="1"/>
          </p:cNvSpPr>
          <p:nvPr>
            <p:ph type="ctrTitle"/>
          </p:nvPr>
        </p:nvSpPr>
        <p:spPr>
          <a:xfrm>
            <a:off x="3386709" y="63449"/>
            <a:ext cx="4950459" cy="1165149"/>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rgbClr val="FF0066"/>
              </a:buClr>
              <a:buSzPts val="3600"/>
              <a:buFont typeface="Arial" panose="020B0604020202020204"/>
              <a:buNone/>
              <a:defRPr sz="3600" b="1" i="0">
                <a:solidFill>
                  <a:srgbClr val="FF0066"/>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29" name="Google Shape;23;p12"/>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dk1"/>
              </a:buClr>
              <a:buSzPts val="2400"/>
              <a:buChar char="•"/>
              <a:defRPr sz="2400" b="0" i="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90000"/>
              </a:lnSpc>
              <a:spcBef>
                <a:spcPts val="500"/>
              </a:spcBef>
              <a:spcAft>
                <a:spcPts val="0"/>
              </a:spcAft>
              <a:buClr>
                <a:schemeClr val="dk1"/>
              </a:buClr>
              <a:buSzPts val="1800"/>
              <a:buChar char="•"/>
            </a:lvl2pPr>
            <a:lvl3pPr lvl="2" algn="l">
              <a:lnSpc>
                <a:spcPct val="90000"/>
              </a:lnSpc>
              <a:spcBef>
                <a:spcPts val="500"/>
              </a:spcBef>
              <a:spcAft>
                <a:spcPts val="0"/>
              </a:spcAft>
              <a:buClr>
                <a:schemeClr val="dk1"/>
              </a:buClr>
              <a:buSzPts val="1800"/>
              <a:buChar char="•"/>
            </a:lvl3pPr>
            <a:lvl4pPr lvl="3" algn="l">
              <a:lnSpc>
                <a:spcPct val="90000"/>
              </a:lnSpc>
              <a:spcBef>
                <a:spcPts val="500"/>
              </a:spcBef>
              <a:spcAft>
                <a:spcPts val="0"/>
              </a:spcAft>
              <a:buClr>
                <a:schemeClr val="dk1"/>
              </a:buClr>
              <a:buSzPts val="1800"/>
              <a:buChar char="•"/>
            </a:lvl4pPr>
            <a:lvl5pPr lvl="4" algn="l">
              <a:lnSpc>
                <a:spcPct val="90000"/>
              </a:lnSpc>
              <a:spcBef>
                <a:spcPts val="500"/>
              </a:spcBef>
              <a:spcAft>
                <a:spcPts val="0"/>
              </a:spcAft>
              <a:buClr>
                <a:schemeClr val="dk1"/>
              </a:buClr>
              <a:buSzPts val="1800"/>
              <a:buChar char="•"/>
            </a:lvl5pPr>
            <a:lvl6pPr lvl="5" algn="l">
              <a:lnSpc>
                <a:spcPct val="90000"/>
              </a:lnSpc>
              <a:spcBef>
                <a:spcPts val="500"/>
              </a:spcBef>
              <a:spcAft>
                <a:spcPts val="0"/>
              </a:spcAft>
              <a:buClr>
                <a:schemeClr val="dk1"/>
              </a:buClr>
              <a:buSzPts val="1800"/>
              <a:buChar char="•"/>
            </a:lvl6pPr>
            <a:lvl7pPr lvl="6" algn="l">
              <a:lnSpc>
                <a:spcPct val="90000"/>
              </a:lnSpc>
              <a:spcBef>
                <a:spcPts val="500"/>
              </a:spcBef>
              <a:spcAft>
                <a:spcPts val="0"/>
              </a:spcAft>
              <a:buClr>
                <a:schemeClr val="dk1"/>
              </a:buClr>
              <a:buSzPts val="1800"/>
              <a:buChar char="•"/>
            </a:lvl7pPr>
            <a:lvl8pPr lvl="7" algn="l">
              <a:lnSpc>
                <a:spcPct val="90000"/>
              </a:lnSpc>
              <a:spcBef>
                <a:spcPts val="500"/>
              </a:spcBef>
              <a:spcAft>
                <a:spcPts val="0"/>
              </a:spcAft>
              <a:buClr>
                <a:schemeClr val="dk1"/>
              </a:buClr>
              <a:buSzPts val="1800"/>
              <a:buChar char="•"/>
            </a:lvl8pPr>
            <a:lvl9pPr lvl="8" algn="l">
              <a:lnSpc>
                <a:spcPct val="90000"/>
              </a:lnSpc>
              <a:spcBef>
                <a:spcPts val="500"/>
              </a:spcBef>
              <a:spcAft>
                <a:spcPts val="0"/>
              </a:spcAft>
              <a:buClr>
                <a:schemeClr val="dk1"/>
              </a:buClr>
              <a:buSzPts val="1800"/>
              <a:buChar char="•"/>
            </a:lvl9pPr>
          </a:lstStyle>
          <a:p/>
        </p:txBody>
      </p:sp>
      <p:sp>
        <p:nvSpPr>
          <p:cNvPr id="1048630" name="Google Shape;24;p12"/>
          <p:cNvSpPr txBox="1">
            <a:spLocks noGrp="1"/>
          </p:cNvSpPr>
          <p:nvPr>
            <p:ph type="ftr" idx="11"/>
          </p:nvPr>
        </p:nvSpPr>
        <p:spPr>
          <a:xfrm>
            <a:off x="4038600" y="6356350"/>
            <a:ext cx="41148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31" name="Google Shape;25;p12"/>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32" name="Google Shape;26;p12"/>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fld>
            <a:endParaRPr sz="1200" b="0" i="0" u="none" strike="noStrike" cap="none">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39" name="Shape 27"/>
        <p:cNvGrpSpPr/>
        <p:nvPr/>
      </p:nvGrpSpPr>
      <p:grpSpPr>
        <a:xfrm>
          <a:off x="0" y="0"/>
          <a:ext cx="0" cy="0"/>
          <a:chOff x="0" y="0"/>
          <a:chExt cx="0" cy="0"/>
        </a:xfrm>
      </p:grpSpPr>
      <p:sp>
        <p:nvSpPr>
          <p:cNvPr id="1048594" name="Google Shape;2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95" name="Google Shape;2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96" name="Google Shape;3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1" name="Shape 31"/>
        <p:cNvGrpSpPr/>
        <p:nvPr/>
      </p:nvGrpSpPr>
      <p:grpSpPr>
        <a:xfrm>
          <a:off x="0" y="0"/>
          <a:ext cx="0" cy="0"/>
          <a:chOff x="0" y="0"/>
          <a:chExt cx="0" cy="0"/>
        </a:xfrm>
      </p:grpSpPr>
      <p:sp>
        <p:nvSpPr>
          <p:cNvPr id="1048698" name="Google Shape;3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9" name="Google Shape;3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48700" name="Google Shape;3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1" name="Google Shape;3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2" name="Google Shape;3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92" name="Shape 37"/>
        <p:cNvGrpSpPr/>
        <p:nvPr/>
      </p:nvGrpSpPr>
      <p:grpSpPr>
        <a:xfrm>
          <a:off x="0" y="0"/>
          <a:ext cx="0" cy="0"/>
          <a:chOff x="0" y="0"/>
          <a:chExt cx="0" cy="0"/>
        </a:xfrm>
      </p:grpSpPr>
      <p:sp>
        <p:nvSpPr>
          <p:cNvPr id="1048703" name="Google Shape;38;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4" name="Google Shape;39;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048705" name="Google Shape;4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6" name="Google Shape;4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7" name="Google Shape;4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86" name="Shape 43"/>
        <p:cNvGrpSpPr/>
        <p:nvPr/>
      </p:nvGrpSpPr>
      <p:grpSpPr>
        <a:xfrm>
          <a:off x="0" y="0"/>
          <a:ext cx="0" cy="0"/>
          <a:chOff x="0" y="0"/>
          <a:chExt cx="0" cy="0"/>
        </a:xfrm>
      </p:grpSpPr>
      <p:sp>
        <p:nvSpPr>
          <p:cNvPr id="1048670" name="Google Shape;4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71" name="Google Shape;45;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72" name="Google Shape;46;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73" name="Google Shape;4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74" name="Google Shape;4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75" name="Google Shape;4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93" name="Shape 50"/>
        <p:cNvGrpSpPr/>
        <p:nvPr/>
      </p:nvGrpSpPr>
      <p:grpSpPr>
        <a:xfrm>
          <a:off x="0" y="0"/>
          <a:ext cx="0" cy="0"/>
          <a:chOff x="0" y="0"/>
          <a:chExt cx="0" cy="0"/>
        </a:xfrm>
      </p:grpSpPr>
      <p:sp>
        <p:nvSpPr>
          <p:cNvPr id="1048708" name="Google Shape;51;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9" name="Google Shape;52;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048710" name="Google Shape;53;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711" name="Google Shape;54;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048712" name="Google Shape;55;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713" name="Google Shape;5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4" name="Google Shape;5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5" name="Google Shape;5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59"/>
        <p:cNvGrpSpPr/>
        <p:nvPr/>
      </p:nvGrpSpPr>
      <p:grpSpPr>
        <a:xfrm>
          <a:off x="0" y="0"/>
          <a:ext cx="0" cy="0"/>
          <a:chOff x="0" y="0"/>
          <a:chExt cx="0" cy="0"/>
        </a:xfrm>
      </p:grpSpPr>
      <p:sp>
        <p:nvSpPr>
          <p:cNvPr id="1048716" name="Google Shape;6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17" name="Google Shape;6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8" name="Google Shape;6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9" name="Google Shape;6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89" name="Shape 64"/>
        <p:cNvGrpSpPr/>
        <p:nvPr/>
      </p:nvGrpSpPr>
      <p:grpSpPr>
        <a:xfrm>
          <a:off x="0" y="0"/>
          <a:ext cx="0" cy="0"/>
          <a:chOff x="0" y="0"/>
          <a:chExt cx="0" cy="0"/>
        </a:xfrm>
      </p:grpSpPr>
      <p:sp>
        <p:nvSpPr>
          <p:cNvPr id="1048686" name="Google Shape;65;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7" name="Google Shape;66;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1048688" name="Google Shape;67;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048689" name="Google Shape;6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0" name="Google Shape;6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1" name="Google Shape;7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90" name="Shape 71"/>
        <p:cNvGrpSpPr/>
        <p:nvPr/>
      </p:nvGrpSpPr>
      <p:grpSpPr>
        <a:xfrm>
          <a:off x="0" y="0"/>
          <a:ext cx="0" cy="0"/>
          <a:chOff x="0" y="0"/>
          <a:chExt cx="0" cy="0"/>
        </a:xfrm>
      </p:grpSpPr>
      <p:sp>
        <p:nvSpPr>
          <p:cNvPr id="1048692" name="Google Shape;72;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3" name="Google Shape;73;p20"/>
          <p:cNvSpPr>
            <a:spLocks noGrp="1"/>
          </p:cNvSpPr>
          <p:nvPr>
            <p:ph type="pic" idx="2"/>
          </p:nvPr>
        </p:nvSpPr>
        <p:spPr>
          <a:xfrm>
            <a:off x="5183188" y="987425"/>
            <a:ext cx="6172200" cy="4873625"/>
          </a:xfrm>
          <a:prstGeom prst="rect">
            <a:avLst/>
          </a:prstGeom>
          <a:noFill/>
          <a:ln>
            <a:noFill/>
          </a:ln>
        </p:spPr>
      </p:sp>
      <p:sp>
        <p:nvSpPr>
          <p:cNvPr id="1048694" name="Google Shape;74;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048695" name="Google Shape;7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6" name="Google Shape;7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7" name="Google Shape;7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8" name="Shape 78"/>
        <p:cNvGrpSpPr/>
        <p:nvPr/>
      </p:nvGrpSpPr>
      <p:grpSpPr>
        <a:xfrm>
          <a:off x="0" y="0"/>
          <a:ext cx="0" cy="0"/>
          <a:chOff x="0" y="0"/>
          <a:chExt cx="0" cy="0"/>
        </a:xfrm>
      </p:grpSpPr>
      <p:sp>
        <p:nvSpPr>
          <p:cNvPr id="1048681" name="Google Shape;79;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2" name="Google Shape;80;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83" name="Google Shape;8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4" name="Google Shape;8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5" name="Google Shape;8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7" name="Shape 84"/>
        <p:cNvGrpSpPr/>
        <p:nvPr/>
      </p:nvGrpSpPr>
      <p:grpSpPr>
        <a:xfrm>
          <a:off x="0" y="0"/>
          <a:ext cx="0" cy="0"/>
          <a:chOff x="0" y="0"/>
          <a:chExt cx="0" cy="0"/>
        </a:xfrm>
      </p:grpSpPr>
      <p:sp>
        <p:nvSpPr>
          <p:cNvPr id="1048676" name="Google Shape;85;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77" name="Google Shape;86;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78" name="Google Shape;8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79" name="Google Shape;8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0" name="Google Shape;8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2" name="Shape 9"/>
        <p:cNvGrpSpPr/>
        <p:nvPr/>
      </p:nvGrpSpPr>
      <p:grpSpPr>
        <a:xfrm>
          <a:off x="0" y="0"/>
          <a:ext cx="0" cy="0"/>
          <a:chOff x="0" y="0"/>
          <a:chExt cx="0" cy="0"/>
        </a:xfrm>
      </p:grpSpPr>
      <p:sp>
        <p:nvSpPr>
          <p:cNvPr id="1048576" name="Google Shape;1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8577" name="Google Shape;11;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8" name="Google Shape;1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9" name="Google Shape;1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80" name="Google Shape;1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5" name="Shape 93"/>
        <p:cNvGrpSpPr/>
        <p:nvPr/>
      </p:nvGrpSpPr>
      <p:grpSpPr>
        <a:xfrm>
          <a:off x="0" y="0"/>
          <a:ext cx="0" cy="0"/>
          <a:chOff x="0" y="0"/>
          <a:chExt cx="0" cy="0"/>
        </a:xfrm>
      </p:grpSpPr>
      <p:pic>
        <p:nvPicPr>
          <p:cNvPr id="2097169" name="Google Shape;97;p1"/>
          <p:cNvPicPr preferRelativeResize="0"/>
          <p:nvPr/>
        </p:nvPicPr>
        <p:blipFill rotWithShape="1">
          <a:blip r:embed="rId1"/>
          <a:srcRect/>
          <a:stretch>
            <a:fillRect/>
          </a:stretch>
        </p:blipFill>
        <p:spPr>
          <a:xfrm>
            <a:off x="261253" y="367070"/>
            <a:ext cx="1296972" cy="1280205"/>
          </a:xfrm>
          <a:prstGeom prst="rect">
            <a:avLst/>
          </a:prstGeom>
          <a:noFill/>
          <a:ln>
            <a:noFill/>
          </a:ln>
        </p:spPr>
      </p:pic>
      <p:sp>
        <p:nvSpPr>
          <p:cNvPr id="1048623" name="Google Shape;99;p1"/>
          <p:cNvSpPr txBox="1"/>
          <p:nvPr/>
        </p:nvSpPr>
        <p:spPr>
          <a:xfrm>
            <a:off x="2785110" y="2706370"/>
            <a:ext cx="6499860" cy="412750"/>
          </a:xfrm>
          <a:prstGeom prst="rect">
            <a:avLst/>
          </a:prstGeom>
          <a:noFill/>
          <a:ln>
            <a:noFill/>
          </a:ln>
        </p:spPr>
        <p:txBody>
          <a:bodyPr spcFirstLastPara="1" wrap="square" lIns="0" tIns="12700" rIns="0" bIns="0" anchor="t" anchorCtr="0">
            <a:spAutoFit/>
          </a:bodyPr>
          <a:p>
            <a:pPr marL="12700" marR="0" lvl="0" indent="0" algn="ctr" rtl="0">
              <a:lnSpc>
                <a:spcPct val="100000"/>
              </a:lnSpc>
              <a:spcBef>
                <a:spcPts val="0"/>
              </a:spcBef>
              <a:spcAft>
                <a:spcPts val="0"/>
              </a:spcAft>
              <a:buNone/>
            </a:pPr>
            <a:r>
              <a:rPr lang="en-IN" sz="2600" b="1" i="0" u="none" strike="noStrike" cap="none">
                <a:solidFill>
                  <a:srgbClr val="FF0066"/>
                </a:solidFill>
                <a:latin typeface="Times New Roman" panose="02020603050405020304" charset="0"/>
                <a:ea typeface="Arial" panose="020B0604020202020204"/>
                <a:cs typeface="Times New Roman" panose="02020603050405020304" charset="0"/>
                <a:sym typeface="Arial" panose="020B0604020202020204"/>
              </a:rPr>
              <a:t>EXPENSE SPLITTER WITH DEBT SIMPLIFICATION</a:t>
            </a:r>
            <a:endParaRPr lang="en-IN" sz="2600" b="1" i="0" u="none" strike="noStrike" cap="none">
              <a:solidFill>
                <a:srgbClr val="FF0066"/>
              </a:solidFill>
              <a:latin typeface="Times New Roman" panose="02020603050405020304" charset="0"/>
              <a:ea typeface="Arial" panose="020B0604020202020204"/>
              <a:cs typeface="Times New Roman" panose="02020603050405020304" charset="0"/>
              <a:sym typeface="Arial" panose="020B0604020202020204"/>
            </a:endParaRPr>
          </a:p>
        </p:txBody>
      </p:sp>
      <p:pic>
        <p:nvPicPr>
          <p:cNvPr id="2097170" name="Google Shape;100;p1"/>
          <p:cNvPicPr preferRelativeResize="0"/>
          <p:nvPr/>
        </p:nvPicPr>
        <p:blipFill rotWithShape="1">
          <a:blip r:embed="rId2"/>
          <a:srcRect/>
          <a:stretch>
            <a:fillRect/>
          </a:stretch>
        </p:blipFill>
        <p:spPr>
          <a:xfrm>
            <a:off x="10185399" y="338074"/>
            <a:ext cx="1811274" cy="1309497"/>
          </a:xfrm>
          <a:prstGeom prst="rect">
            <a:avLst/>
          </a:prstGeom>
          <a:noFill/>
          <a:ln>
            <a:noFill/>
          </a:ln>
        </p:spPr>
      </p:pic>
      <p:sp>
        <p:nvSpPr>
          <p:cNvPr id="1048589" name="object 6"/>
          <p:cNvSpPr txBox="1">
            <a:spLocks noGrp="1"/>
          </p:cNvSpPr>
          <p:nvPr>
            <p:ph type="title"/>
          </p:nvPr>
        </p:nvSpPr>
        <p:spPr>
          <a:xfrm>
            <a:off x="1701164" y="-304801"/>
            <a:ext cx="8435975" cy="2548890"/>
          </a:xfrm>
          <a:prstGeom prst="rect">
            <a:avLst/>
          </a:prstGeom>
        </p:spPr>
        <p:txBody>
          <a:bodyPr vert="horz" wrap="square" lIns="0" tIns="518033" rIns="0" bIns="0" rtlCol="0">
            <a:spAutoFit/>
          </a:bodyPr>
          <a:lstStyle/>
          <a:p>
            <a:pPr marL="55880" algn="ctr">
              <a:lnSpc>
                <a:spcPct val="150000"/>
              </a:lnSpc>
              <a:spcBef>
                <a:spcPts val="95"/>
              </a:spcBef>
            </a:pPr>
            <a:r>
              <a:rPr lang="en-US" altLang="en-US" sz="2200" b="1" dirty="0">
                <a:solidFill>
                  <a:srgbClr val="FF0066"/>
                </a:solidFill>
                <a:latin typeface="Times New Roman" panose="02020603050405020304" charset="0"/>
                <a:cs typeface="Times New Roman" panose="02020603050405020304" charset="0"/>
              </a:rPr>
              <a:t>K. RAMAKRISHNAN COLLEGE OF ENGINEERING</a:t>
            </a:r>
            <a:br>
              <a:rPr lang="en-US" altLang="en-US" sz="2200" b="1" dirty="0">
                <a:solidFill>
                  <a:srgbClr val="FF0066"/>
                </a:solidFill>
                <a:latin typeface="Times New Roman" panose="02020603050405020304" charset="0"/>
                <a:cs typeface="Times New Roman" panose="02020603050405020304" charset="0"/>
              </a:rPr>
            </a:br>
            <a:r>
              <a:rPr lang="en-US" altLang="en-US" sz="2200" b="1" dirty="0">
                <a:solidFill>
                  <a:srgbClr val="FF0066"/>
                </a:solidFill>
                <a:latin typeface="Times New Roman" panose="02020603050405020304" charset="0"/>
                <a:cs typeface="Times New Roman" panose="02020603050405020304" charset="0"/>
              </a:rPr>
              <a:t>(AUTONOMOUS), SAMAYAPURAM - TRICHY</a:t>
            </a:r>
            <a:br>
              <a:rPr lang="en-US" altLang="en-US" sz="2200" b="1" dirty="0">
                <a:solidFill>
                  <a:srgbClr val="FF0066"/>
                </a:solidFill>
                <a:latin typeface="Times New Roman" panose="02020603050405020304" charset="0"/>
                <a:cs typeface="Times New Roman" panose="02020603050405020304" charset="0"/>
              </a:rPr>
            </a:br>
            <a:r>
              <a:rPr lang="en-US" altLang="en-US" sz="2200" b="1" dirty="0">
                <a:solidFill>
                  <a:srgbClr val="FF0066"/>
                </a:solidFill>
                <a:latin typeface="Times New Roman" panose="02020603050405020304" charset="0"/>
                <a:cs typeface="Times New Roman" panose="02020603050405020304" charset="0"/>
              </a:rPr>
              <a:t>DEPARTMENT OF INFORMATION TECHNOLOGY </a:t>
            </a:r>
            <a:br>
              <a:rPr lang="en-US" altLang="en-US" sz="2200" b="1" dirty="0">
                <a:solidFill>
                  <a:srgbClr val="FF0066"/>
                </a:solidFill>
                <a:latin typeface="Times New Roman" panose="02020603050405020304" charset="0"/>
                <a:cs typeface="Times New Roman" panose="02020603050405020304" charset="0"/>
              </a:rPr>
            </a:br>
            <a:r>
              <a:rPr lang="en-US" altLang="en-US" sz="2200" b="1" dirty="0">
                <a:solidFill>
                  <a:srgbClr val="FF0066"/>
                </a:solidFill>
                <a:latin typeface="Times New Roman" panose="02020603050405020304" charset="0"/>
                <a:cs typeface="Times New Roman" panose="02020603050405020304" charset="0"/>
              </a:rPr>
              <a:t>CGB1201 – JAVA PROGRAMMING</a:t>
            </a:r>
            <a:endParaRPr lang="en-US" altLang="en-US" sz="2200" b="1" dirty="0">
              <a:solidFill>
                <a:srgbClr val="FF0066"/>
              </a:solidFill>
              <a:latin typeface="Times New Roman" panose="02020603050405020304" charset="0"/>
              <a:cs typeface="Times New Roman" panose="02020603050405020304" charset="0"/>
            </a:endParaRPr>
          </a:p>
        </p:txBody>
      </p:sp>
      <p:sp>
        <p:nvSpPr>
          <p:cNvPr id="1048586" name="object 2"/>
          <p:cNvSpPr txBox="1"/>
          <p:nvPr/>
        </p:nvSpPr>
        <p:spPr>
          <a:xfrm>
            <a:off x="981710" y="3581400"/>
            <a:ext cx="2908300" cy="2626995"/>
          </a:xfrm>
          <a:prstGeom prst="rect">
            <a:avLst/>
          </a:prstGeom>
        </p:spPr>
        <p:txBody>
          <a:bodyPr vert="horz" wrap="square" lIns="0" tIns="154940" rIns="0" bIns="0" rtlCol="0">
            <a:spAutoFit/>
          </a:bodyPr>
          <a:lstStyle/>
          <a:p>
            <a:pPr marL="12700">
              <a:lnSpc>
                <a:spcPct val="100000"/>
              </a:lnSpc>
              <a:spcBef>
                <a:spcPts val="1220"/>
              </a:spcBef>
            </a:pPr>
            <a:r>
              <a:rPr lang="en-US" altLang="en-US" sz="2400" b="1" dirty="0">
                <a:latin typeface="Times New Roman" panose="02020603050405020304" charset="0"/>
                <a:cs typeface="Times New Roman" panose="02020603050405020304" charset="0"/>
              </a:rPr>
              <a:t>PRESENTED BY</a:t>
            </a:r>
            <a:r>
              <a:rPr lang="en-IN" altLang="en-US" sz="2400" b="1" dirty="0">
                <a:latin typeface="Times New Roman" panose="02020603050405020304" charset="0"/>
                <a:cs typeface="Times New Roman" panose="02020603050405020304" charset="0"/>
              </a:rPr>
              <a:t>:</a:t>
            </a:r>
            <a:r>
              <a:rPr lang="en-US" altLang="en-US" sz="2400" b="1" dirty="0">
                <a:latin typeface="Times New Roman" panose="02020603050405020304" charset="0"/>
                <a:cs typeface="Times New Roman" panose="02020603050405020304" charset="0"/>
              </a:rPr>
              <a:t> </a:t>
            </a:r>
            <a:endParaRPr lang="en-US" altLang="en-US" sz="2400" b="1" dirty="0">
              <a:latin typeface="Times New Roman" panose="02020603050405020304" charset="0"/>
              <a:cs typeface="Times New Roman" panose="02020603050405020304" charset="0"/>
            </a:endParaRPr>
          </a:p>
          <a:p>
            <a:pPr marL="12700">
              <a:lnSpc>
                <a:spcPct val="100000"/>
              </a:lnSpc>
              <a:spcBef>
                <a:spcPts val="1220"/>
              </a:spcBef>
            </a:pPr>
            <a:r>
              <a:rPr lang="en-US" altLang="en-US" sz="2400" b="1" dirty="0">
                <a:latin typeface="Times New Roman" panose="02020603050405020304" charset="0"/>
                <a:cs typeface="Times New Roman" panose="02020603050405020304" charset="0"/>
              </a:rPr>
              <a:t>ALAGAPPAN K</a:t>
            </a:r>
            <a:endParaRPr lang="en-US" altLang="en-US" sz="2400" b="1" dirty="0">
              <a:latin typeface="Times New Roman" panose="02020603050405020304" charset="0"/>
              <a:cs typeface="Times New Roman" panose="02020603050405020304" charset="0"/>
            </a:endParaRPr>
          </a:p>
          <a:p>
            <a:pPr marL="12700">
              <a:lnSpc>
                <a:spcPct val="100000"/>
              </a:lnSpc>
              <a:spcBef>
                <a:spcPts val="1220"/>
              </a:spcBef>
            </a:pPr>
            <a:r>
              <a:rPr lang="en-IN" altLang="en-US" sz="2400" b="1" dirty="0">
                <a:latin typeface="Times New Roman" panose="02020603050405020304" charset="0"/>
                <a:cs typeface="Times New Roman" panose="02020603050405020304" charset="0"/>
              </a:rPr>
              <a:t>8115U25IT005</a:t>
            </a:r>
            <a:endParaRPr lang="en-IN" altLang="en-US" sz="2400" b="1" dirty="0">
              <a:latin typeface="Times New Roman" panose="02020603050405020304" charset="0"/>
              <a:cs typeface="Times New Roman" panose="02020603050405020304" charset="0"/>
            </a:endParaRPr>
          </a:p>
          <a:p>
            <a:pPr marL="12700">
              <a:lnSpc>
                <a:spcPct val="100000"/>
              </a:lnSpc>
              <a:spcBef>
                <a:spcPts val="1220"/>
              </a:spcBef>
            </a:pPr>
            <a:r>
              <a:rPr lang="en-IN" altLang="en-US" sz="2400" b="1" dirty="0">
                <a:latin typeface="Times New Roman" panose="02020603050405020304" charset="0"/>
                <a:cs typeface="Times New Roman" panose="02020603050405020304" charset="0"/>
              </a:rPr>
              <a:t>KEVIN XAVIER F</a:t>
            </a:r>
            <a:endParaRPr lang="en-IN" altLang="en-US" sz="2400" b="1" dirty="0">
              <a:latin typeface="Times New Roman" panose="02020603050405020304" charset="0"/>
              <a:cs typeface="Times New Roman" panose="02020603050405020304" charset="0"/>
            </a:endParaRPr>
          </a:p>
          <a:p>
            <a:pPr marL="12700">
              <a:lnSpc>
                <a:spcPct val="100000"/>
              </a:lnSpc>
              <a:spcBef>
                <a:spcPts val="1220"/>
              </a:spcBef>
            </a:pPr>
            <a:r>
              <a:rPr lang="en-IN" altLang="en-US" sz="2400" b="1" dirty="0">
                <a:latin typeface="Times New Roman" panose="02020603050405020304" charset="0"/>
                <a:cs typeface="Times New Roman" panose="02020603050405020304" charset="0"/>
              </a:rPr>
              <a:t>8115U25IT056</a:t>
            </a:r>
            <a:endParaRPr lang="en-US" altLang="en-US" sz="2400" b="1" dirty="0">
              <a:latin typeface="Times New Roman" panose="02020603050405020304" charset="0"/>
              <a:cs typeface="Times New Roman" panose="02020603050405020304" charset="0"/>
            </a:endParaRPr>
          </a:p>
        </p:txBody>
      </p:sp>
      <p:sp>
        <p:nvSpPr>
          <p:cNvPr id="2" name="object 2"/>
          <p:cNvSpPr txBox="1"/>
          <p:nvPr/>
        </p:nvSpPr>
        <p:spPr>
          <a:xfrm>
            <a:off x="8077200" y="3708400"/>
            <a:ext cx="3475990" cy="1945005"/>
          </a:xfrm>
          <a:prstGeom prst="rect">
            <a:avLst/>
          </a:prstGeom>
        </p:spPr>
        <p:txBody>
          <a:bodyPr vert="horz" wrap="square" lIns="0" tIns="154940" rIns="0" bIns="0" rtlCol="0">
            <a:spAutoFit/>
          </a:bodyPr>
          <a:lstStyle/>
          <a:p>
            <a:pPr marL="12700" algn="ctr">
              <a:lnSpc>
                <a:spcPct val="100000"/>
              </a:lnSpc>
              <a:spcBef>
                <a:spcPts val="1220"/>
              </a:spcBef>
            </a:pPr>
            <a:r>
              <a:rPr lang="en-US" altLang="en-US" sz="2400" b="1" dirty="0">
                <a:latin typeface="Times New Roman" panose="02020603050405020304" charset="0"/>
                <a:cs typeface="Times New Roman" panose="02020603050405020304" charset="0"/>
              </a:rPr>
              <a:t>SUPERVISOR </a:t>
            </a:r>
            <a:endParaRPr lang="en-US" altLang="en-US" sz="2400" b="1" dirty="0">
              <a:latin typeface="Times New Roman" panose="02020603050405020304" charset="0"/>
              <a:cs typeface="Times New Roman" panose="02020603050405020304" charset="0"/>
            </a:endParaRPr>
          </a:p>
          <a:p>
            <a:pPr marL="12700" algn="ctr">
              <a:lnSpc>
                <a:spcPct val="100000"/>
              </a:lnSpc>
              <a:spcBef>
                <a:spcPts val="1220"/>
              </a:spcBef>
            </a:pPr>
            <a:r>
              <a:rPr lang="en-US" altLang="en-US" sz="2400" b="1" dirty="0">
                <a:latin typeface="Times New Roman" panose="02020603050405020304" charset="0"/>
                <a:cs typeface="Times New Roman" panose="02020603050405020304" charset="0"/>
              </a:rPr>
              <a:t>M</a:t>
            </a:r>
            <a:r>
              <a:rPr lang="en-IN" altLang="en-US" sz="2400" b="1" dirty="0">
                <a:latin typeface="Times New Roman" panose="02020603050405020304" charset="0"/>
                <a:cs typeface="Times New Roman" panose="02020603050405020304" charset="0"/>
              </a:rPr>
              <a:t>r</a:t>
            </a:r>
            <a:r>
              <a:rPr lang="en-US" altLang="en-US" sz="2400" b="1" dirty="0">
                <a:latin typeface="Times New Roman" panose="02020603050405020304" charset="0"/>
                <a:cs typeface="Times New Roman" panose="02020603050405020304" charset="0"/>
              </a:rPr>
              <a:t>s.S.SATHYA PRIYA</a:t>
            </a:r>
            <a:r>
              <a:rPr lang="en-IN" altLang="en-US" sz="2400" b="1" dirty="0">
                <a:latin typeface="Times New Roman" panose="02020603050405020304" charset="0"/>
                <a:cs typeface="Times New Roman" panose="02020603050405020304" charset="0"/>
              </a:rPr>
              <a:t>,</a:t>
            </a:r>
            <a:r>
              <a:rPr lang="en-US" sz="2400" b="1" dirty="0">
                <a:solidFill>
                  <a:schemeClr val="tx1"/>
                </a:solidFill>
                <a:latin typeface="Times New Roman" panose="02020603050405020304" charset="0"/>
                <a:cs typeface="Times New Roman" panose="02020603050405020304" charset="0"/>
                <a:sym typeface="+mn-ea"/>
              </a:rPr>
              <a:t>M.E., (Ph.D.,)</a:t>
            </a:r>
            <a:endParaRPr lang="en-US" altLang="en-US" sz="2400" b="1" dirty="0">
              <a:latin typeface="Times New Roman" panose="02020603050405020304" charset="0"/>
              <a:cs typeface="Times New Roman" panose="02020603050405020304" charset="0"/>
            </a:endParaRPr>
          </a:p>
          <a:p>
            <a:pPr marL="12700" algn="ctr">
              <a:lnSpc>
                <a:spcPct val="100000"/>
              </a:lnSpc>
              <a:spcBef>
                <a:spcPts val="1220"/>
              </a:spcBef>
            </a:pPr>
            <a:r>
              <a:rPr lang="en-US" altLang="en-US" sz="2400" b="1" dirty="0">
                <a:latin typeface="Times New Roman" panose="02020603050405020304" charset="0"/>
                <a:cs typeface="Times New Roman" panose="02020603050405020304" charset="0"/>
              </a:rPr>
              <a:t> Assistant Professor / IT</a:t>
            </a:r>
            <a:endParaRPr lang="en-US" altLang="en-US" sz="2400" b="1"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333750" y="83820"/>
            <a:ext cx="5186045" cy="112458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US" altLang="en-IN" sz="2600">
                <a:latin typeface="Times New Roman" panose="02020603050405020304"/>
                <a:ea typeface="Times New Roman" panose="02020603050405020304"/>
                <a:cs typeface="Times New Roman" panose="02020603050405020304"/>
                <a:sym typeface="Times New Roman" panose="02020603050405020304"/>
              </a:rPr>
              <a:t>PRESENTATION OVERVIEW</a:t>
            </a:r>
            <a:endParaRPr lang="en-US" altLang="en-IN" sz="26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sp>
        <p:nvSpPr>
          <p:cNvPr id="1048634" name="Google Shape;110;p2"/>
          <p:cNvSpPr txBox="1"/>
          <p:nvPr/>
        </p:nvSpPr>
        <p:spPr>
          <a:xfrm>
            <a:off x="1340485" y="1941728"/>
            <a:ext cx="9511030" cy="2782570"/>
          </a:xfrm>
          <a:prstGeom prst="rect">
            <a:avLst/>
          </a:prstGeom>
          <a:noFill/>
          <a:ln>
            <a:noFill/>
          </a:ln>
        </p:spPr>
        <p:txBody>
          <a:bodyPr spcFirstLastPara="1" wrap="square" lIns="0" tIns="12700" rIns="0" bIns="0" anchor="t" anchorCtr="0">
            <a:spAutoFit/>
          </a:bodyPr>
          <a:p>
            <a:pPr>
              <a:lnSpc>
                <a:spcPct val="150000"/>
              </a:lnSpc>
            </a:pPr>
            <a:r>
              <a:rPr lang="en-IN" sz="2400" b="1" dirty="0">
                <a:latin typeface="Times New Roman" panose="02020603050405020304" charset="0"/>
                <a:cs typeface="Times New Roman" panose="02020603050405020304" charset="0"/>
                <a:sym typeface="+mn-ea"/>
              </a:rPr>
              <a:t>1.Project Objective</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2. Problem Statement</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3. Architecture Diagram</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4. Modules Used</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5. References</a:t>
            </a:r>
            <a:endParaRPr lang="en-IN" altLang="en-US" sz="2400" b="1"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334004" y="68491"/>
            <a:ext cx="4950459" cy="115506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US" altLang="en-IN" sz="2800">
                <a:latin typeface="Times New Roman" panose="02020603050405020304"/>
                <a:ea typeface="Times New Roman" panose="02020603050405020304"/>
                <a:cs typeface="Times New Roman" panose="02020603050405020304"/>
                <a:sym typeface="Times New Roman" panose="02020603050405020304"/>
              </a:rPr>
              <a:t>PROJECT OBJECTIVE</a:t>
            </a:r>
            <a:endParaRPr lang="en-US" altLang="en-IN" sz="28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sp>
        <p:nvSpPr>
          <p:cNvPr id="1048634" name="Google Shape;110;p2"/>
          <p:cNvSpPr txBox="1"/>
          <p:nvPr/>
        </p:nvSpPr>
        <p:spPr>
          <a:xfrm>
            <a:off x="1340485" y="1727098"/>
            <a:ext cx="9511030" cy="3244215"/>
          </a:xfrm>
          <a:prstGeom prst="rect">
            <a:avLst/>
          </a:prstGeom>
          <a:noFill/>
          <a:ln>
            <a:noFill/>
          </a:ln>
        </p:spPr>
        <p:txBody>
          <a:bodyPr spcFirstLastPara="1" wrap="square" lIns="0" tIns="12700" rIns="0" bIns="0" anchor="t" anchorCtr="0">
            <a:spAutoFit/>
          </a:bodyPr>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Track Expenses: </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Record and manage shared expenses among group members in real time.</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Split Costs:</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Automatically divide expenses fairly among participants based on the chosen split method.</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Simplify Debts:</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Minimize the number of transactions needed to settle all balances among members.</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Generate Reports:</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Provide users with clear summaries of who owes whom and how much.</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334004" y="68491"/>
            <a:ext cx="4950459" cy="115506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IN" altLang="en-US" sz="2800">
                <a:latin typeface="Times New Roman" panose="02020603050405020304"/>
                <a:ea typeface="Times New Roman" panose="02020603050405020304"/>
                <a:cs typeface="Times New Roman" panose="02020603050405020304"/>
                <a:sym typeface="Times New Roman" panose="02020603050405020304"/>
              </a:rPr>
              <a:t>PROBLEM STATEMENT</a:t>
            </a:r>
            <a:endParaRPr lang="en-IN" altLang="en-US" sz="28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sp>
        <p:nvSpPr>
          <p:cNvPr id="1048634" name="Google Shape;110;p2"/>
          <p:cNvSpPr txBox="1"/>
          <p:nvPr/>
        </p:nvSpPr>
        <p:spPr>
          <a:xfrm>
            <a:off x="1340485" y="1727098"/>
            <a:ext cx="9511030" cy="1859280"/>
          </a:xfrm>
          <a:prstGeom prst="rect">
            <a:avLst/>
          </a:prstGeom>
          <a:noFill/>
          <a:ln>
            <a:noFill/>
          </a:ln>
        </p:spPr>
        <p:txBody>
          <a:bodyPr spcFirstLastPara="1" wrap="square" lIns="0" tIns="12700" rIns="0" bIns="0" anchor="t" anchorCtr="0">
            <a:spAutoFit/>
          </a:bodyPr>
          <a:p>
            <a:pPr marL="0" marR="0" lvl="0" indent="457200" algn="just" rtl="0">
              <a:lnSpc>
                <a:spcPct val="150000"/>
              </a:lnSpc>
              <a:spcBef>
                <a:spcPts val="0"/>
              </a:spcBef>
              <a:spcAft>
                <a:spcPts val="0"/>
              </a:spcAft>
              <a:buClr>
                <a:schemeClr val="dk1"/>
              </a:buClr>
              <a:buSzPts val="2400"/>
              <a:buFont typeface="Noto Sans Symbols"/>
              <a:buNone/>
            </a:pP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When groups of friends, roommates, or colleagues share expenses, calculating who owes what quickly becomes confusing and error-prone. Multiple pending payments between the same people lead to unnecessary transactions and disputes. This system records shared expenses, splits costs automatically, and simplifies debts by minimizing the transactions needed to settle balances.</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195320" y="83820"/>
            <a:ext cx="5441950" cy="112458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US" altLang="en-IN" sz="2600">
                <a:latin typeface="Times New Roman" panose="02020603050405020304"/>
                <a:ea typeface="Times New Roman" panose="02020603050405020304"/>
                <a:cs typeface="Times New Roman" panose="02020603050405020304"/>
                <a:sym typeface="Times New Roman" panose="02020603050405020304"/>
              </a:rPr>
              <a:t>ARCHITECHTURE DIAGRAM</a:t>
            </a:r>
            <a:endParaRPr lang="en-US" altLang="en-IN" sz="26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pic>
        <p:nvPicPr>
          <p:cNvPr id="2" name="Picture 1" descr="ChatGPT Image Aug 18, 2026, 09_04_08 PM"/>
          <p:cNvPicPr>
            <a:picLocks noChangeAspect="1"/>
          </p:cNvPicPr>
          <p:nvPr/>
        </p:nvPicPr>
        <p:blipFill>
          <a:blip r:embed="rId3"/>
          <a:stretch>
            <a:fillRect/>
          </a:stretch>
        </p:blipFill>
        <p:spPr>
          <a:xfrm>
            <a:off x="3312160" y="1520190"/>
            <a:ext cx="5568315" cy="44564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6" name="Shape 140"/>
        <p:cNvGrpSpPr/>
        <p:nvPr/>
      </p:nvGrpSpPr>
      <p:grpSpPr>
        <a:xfrm>
          <a:off x="0" y="0"/>
          <a:ext cx="0" cy="0"/>
          <a:chOff x="0" y="0"/>
          <a:chExt cx="0" cy="0"/>
        </a:xfrm>
      </p:grpSpPr>
      <p:sp>
        <p:nvSpPr>
          <p:cNvPr id="1048586" name="Google Shape;141;p6"/>
          <p:cNvSpPr txBox="1">
            <a:spLocks noGrp="1"/>
          </p:cNvSpPr>
          <p:nvPr>
            <p:ph type="title"/>
          </p:nvPr>
        </p:nvSpPr>
        <p:spPr>
          <a:xfrm>
            <a:off x="1395402" y="667320"/>
            <a:ext cx="8435975" cy="443230"/>
          </a:xfrm>
          <a:prstGeom prst="rect">
            <a:avLst/>
          </a:prstGeom>
          <a:noFill/>
          <a:ln>
            <a:noFill/>
          </a:ln>
        </p:spPr>
        <p:txBody>
          <a:bodyPr spcFirstLastPara="1" wrap="square" lIns="0" tIns="12700" rIns="0" bIns="0" anchor="ctr" anchorCtr="0">
            <a:spAutoFit/>
          </a:bodyPr>
          <a:p>
            <a:pPr marL="950595" lvl="0" indent="0" algn="ctr" rtl="0">
              <a:lnSpc>
                <a:spcPct val="100000"/>
              </a:lnSpc>
              <a:spcBef>
                <a:spcPts val="0"/>
              </a:spcBef>
              <a:spcAft>
                <a:spcPts val="0"/>
              </a:spcAft>
              <a:buClr>
                <a:srgbClr val="FF0066"/>
              </a:buClr>
              <a:buSzPts val="2800"/>
              <a:buFont typeface="Times New Roman" panose="02020603050405020304"/>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MODULES USED</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52" name="Google Shape;142;p6"/>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3" name="Google Shape;143;p6"/>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87" name="Google Shape;144;p6"/>
          <p:cNvSpPr/>
          <p:nvPr/>
        </p:nvSpPr>
        <p:spPr>
          <a:xfrm>
            <a:off x="1136650" y="1552575"/>
            <a:ext cx="9992360" cy="5168265"/>
          </a:xfrm>
          <a:prstGeom prst="rect">
            <a:avLst/>
          </a:prstGeom>
          <a:noFill/>
          <a:ln>
            <a:noFill/>
          </a:ln>
        </p:spPr>
        <p:txBody>
          <a:bodyPr spcFirstLastPara="1" wrap="square" lIns="91425" tIns="45700" rIns="91425" bIns="45700" anchor="ctr" anchorCtr="0">
            <a:spAutoFit/>
          </a:bodyPr>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User &amp; Group Management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Manages user profiles and organizes users into expense-sharing groups.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Entry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Records new expenses and captures the payer, amount, and participants involved.</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Splitting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Divides each expense among participants using equal, percentage, or custom split methods.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Debt Simplification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Minimizes the total number of transactions needed to settle all outstanding balances.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Settlement &amp; Reporting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Tracks payments, updates balances, and generates clear settlement summaries.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9" name="Shape 168"/>
        <p:cNvGrpSpPr/>
        <p:nvPr/>
      </p:nvGrpSpPr>
      <p:grpSpPr>
        <a:xfrm>
          <a:off x="0" y="0"/>
          <a:ext cx="0" cy="0"/>
          <a:chOff x="0" y="0"/>
          <a:chExt cx="0" cy="0"/>
        </a:xfrm>
      </p:grpSpPr>
      <p:pic>
        <p:nvPicPr>
          <p:cNvPr id="2097165" name="Google Shape;169;g3d396cbf18d_0_1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66" name="Google Shape;170;g3d396cbf18d_0_1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11" name="Google Shape;171;g3d396cbf18d_0_1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USER &amp; GROUP MANAGEMENT</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2" name="Google Shape;172;g3d396cbf18d_0_10"/>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User Registration: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Creates and stores user details such as user ID and name.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User Management:</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Maintains and manages the details of all users in the system.</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Group Creation: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Creates an expense-sharing group and organizes users within the group.</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Member Management:</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Adds and displays group members for managing shared expenses.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USER &amp; GROUP MANAGEMENT</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Text Box 8"/>
          <p:cNvSpPr txBox="1"/>
          <p:nvPr/>
        </p:nvSpPr>
        <p:spPr>
          <a:xfrm>
            <a:off x="634365" y="1662430"/>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sp>
        <p:nvSpPr>
          <p:cNvPr id="11" name="Text Box 10"/>
          <p:cNvSpPr txBox="1"/>
          <p:nvPr/>
        </p:nvSpPr>
        <p:spPr>
          <a:xfrm>
            <a:off x="4622800" y="2061210"/>
            <a:ext cx="2439035" cy="399415"/>
          </a:xfrm>
          <a:prstGeom prst="rect">
            <a:avLst/>
          </a:prstGeom>
          <a:noFill/>
        </p:spPr>
        <p:txBody>
          <a:bodyPr wrap="square" rtlCol="0">
            <a:noAutofit/>
          </a:bodyPr>
          <a:p>
            <a:endParaRPr lang="en-US"/>
          </a:p>
        </p:txBody>
      </p:sp>
      <p:pic>
        <p:nvPicPr>
          <p:cNvPr id="1" name="Picture 0"/>
          <p:cNvPicPr>
            <a:picLocks noChangeAspect="1"/>
          </p:cNvPicPr>
          <p:nvPr/>
        </p:nvPicPr>
        <p:blipFill>
          <a:blip r:embed="rId3"/>
          <a:stretch>
            <a:fillRect/>
          </a:stretch>
        </p:blipFill>
        <p:spPr>
          <a:xfrm>
            <a:off x="2376805" y="2115820"/>
            <a:ext cx="7438390" cy="40951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9" name="Shape 168"/>
        <p:cNvGrpSpPr/>
        <p:nvPr/>
      </p:nvGrpSpPr>
      <p:grpSpPr>
        <a:xfrm>
          <a:off x="0" y="0"/>
          <a:ext cx="0" cy="0"/>
          <a:chOff x="0" y="0"/>
          <a:chExt cx="0" cy="0"/>
        </a:xfrm>
      </p:grpSpPr>
      <p:pic>
        <p:nvPicPr>
          <p:cNvPr id="2097165" name="Google Shape;169;g3d396cbf18d_0_1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66" name="Google Shape;170;g3d396cbf18d_0_1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11" name="Google Shape;171;g3d396cbf18d_0_1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ENTRY</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2" name="Google Shape;172;g3d396cbf18d_0_10"/>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Expense Recording: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Records each new expense along with the amount, date, and category.</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Payer Identification: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Identifies which group member paid for the expense.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Participant Selection: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Allows the payer to select which group members share the expense.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Expense History:</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Maintains a complete history of past expenses for each group.</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ENTRY</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Text Box 8"/>
          <p:cNvSpPr txBox="1"/>
          <p:nvPr/>
        </p:nvSpPr>
        <p:spPr>
          <a:xfrm>
            <a:off x="718185" y="1637665"/>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1" name="Picture 0"/>
          <p:cNvPicPr>
            <a:picLocks noChangeAspect="1"/>
          </p:cNvPicPr>
          <p:nvPr/>
        </p:nvPicPr>
        <p:blipFill>
          <a:blip r:embed="rId3"/>
          <a:stretch>
            <a:fillRect/>
          </a:stretch>
        </p:blipFill>
        <p:spPr>
          <a:xfrm>
            <a:off x="2130425" y="2066290"/>
            <a:ext cx="8175625" cy="44850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5" name="Shape 188"/>
        <p:cNvGrpSpPr/>
        <p:nvPr/>
      </p:nvGrpSpPr>
      <p:grpSpPr>
        <a:xfrm>
          <a:off x="0" y="0"/>
          <a:ext cx="0" cy="0"/>
          <a:chOff x="0" y="0"/>
          <a:chExt cx="0" cy="0"/>
        </a:xfrm>
      </p:grpSpPr>
      <p:pic>
        <p:nvPicPr>
          <p:cNvPr id="2097177" name="Google Shape;189;g3d396cbf18d_0_18"/>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78" name="Google Shape;190;g3d396cbf18d_0_18"/>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42" name="Google Shape;191;g3d396cbf18d_0_18"/>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SPLITTING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3" name="Google Shape;192;g3d396cbf18d_0_18"/>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Split Calculation: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Calculates each participant's share based on equal, percentage, or custom split rules.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Automatic Processing: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Updates each member's balance automatically whenever a new expense is added.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Balance Checking: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Compares what each member owes against what they have already paid.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Share Identification: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Identifies each member's exact owed or owing amount for every expense.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SPLITTING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Text Box 8"/>
          <p:cNvSpPr txBox="1"/>
          <p:nvPr/>
        </p:nvSpPr>
        <p:spPr>
          <a:xfrm>
            <a:off x="718185" y="1637665"/>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1" name="Picture 0"/>
          <p:cNvPicPr>
            <a:picLocks noChangeAspect="1"/>
          </p:cNvPicPr>
          <p:nvPr/>
        </p:nvPicPr>
        <p:blipFill>
          <a:blip r:embed="rId3"/>
          <a:stretch>
            <a:fillRect/>
          </a:stretch>
        </p:blipFill>
        <p:spPr>
          <a:xfrm>
            <a:off x="1837690" y="2066290"/>
            <a:ext cx="7929880" cy="43351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DEBT SIMPLIFICATION</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Balance Aggregation: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Combines all individual dues to determine each member's net balance.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Transaction Minimization: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Applies a greedy settlement algorithm to reduce the number of payments needed.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Optimal Matching: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Matches debtors and creditors so balances are settled with the fewest transfers.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Settlement Suggestion: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Recommends who should pay whom and how much to clear all dues.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DEBT SIMPLIFICATION</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 Box 2"/>
          <p:cNvSpPr txBox="1"/>
          <p:nvPr/>
        </p:nvSpPr>
        <p:spPr>
          <a:xfrm>
            <a:off x="483870" y="1532890"/>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1" name="Picture 0"/>
          <p:cNvPicPr>
            <a:picLocks noChangeAspect="1"/>
          </p:cNvPicPr>
          <p:nvPr/>
        </p:nvPicPr>
        <p:blipFill>
          <a:blip r:embed="rId3"/>
          <a:stretch>
            <a:fillRect/>
          </a:stretch>
        </p:blipFill>
        <p:spPr>
          <a:xfrm>
            <a:off x="1579245" y="1931670"/>
            <a:ext cx="8957945" cy="48317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SETTLEMENT &amp; REPORTING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Payment Tracking: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Records settlement payments made between members to clear their balances.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Balance Updating: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Updates each member's balance immediately after a settlement is recorded.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Report Generation: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Generates clear summaries showing who owes whom and how much.</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Due Notification: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Notifies members of pending dues until every balance is fully settled.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SETTLEMENT &amp; REPORTING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Box 1"/>
          <p:cNvSpPr txBox="1"/>
          <p:nvPr/>
        </p:nvSpPr>
        <p:spPr>
          <a:xfrm>
            <a:off x="856615" y="1659890"/>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1" name="Picture 0"/>
          <p:cNvPicPr>
            <a:picLocks noChangeAspect="1"/>
          </p:cNvPicPr>
          <p:nvPr/>
        </p:nvPicPr>
        <p:blipFill>
          <a:blip r:embed="rId3"/>
          <a:stretch>
            <a:fillRect/>
          </a:stretch>
        </p:blipFill>
        <p:spPr>
          <a:xfrm>
            <a:off x="2379980" y="2058670"/>
            <a:ext cx="7432040" cy="40087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altLang="en-US" sz="2400" b="1">
                <a:solidFill>
                  <a:srgbClr val="FF0066"/>
                </a:solidFill>
                <a:latin typeface="Times New Roman" panose="02020603050405020304"/>
                <a:ea typeface="Times New Roman" panose="02020603050405020304"/>
                <a:cs typeface="Times New Roman" panose="02020603050405020304"/>
                <a:sym typeface="Times New Roman" panose="02020603050405020304"/>
              </a:rPr>
              <a:t>FUTURE IMPLEMENTATION</a:t>
            </a:r>
            <a:endParaRPr lang="en-IN" altLang="en-US" sz="24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Database Integrat</a:t>
            </a:r>
            <a:r>
              <a:rPr lang="en-IN"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ion</a:t>
            </a:r>
            <a:endPar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Store user details, expenses, balances, and settlement records permanently.</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Multiple Split Options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Support equal, percentage-based, and custom expense splitting</a:t>
            </a: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User-Friendly Interface</a:t>
            </a:r>
            <a:endPar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Develop a simple GUI so users can enter expenses and view balances easily.</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Expense History</a:t>
            </a:r>
            <a:endPar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Allow users to view previous expenses and completed settlements.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Automated Due Notifications</a:t>
            </a:r>
            <a:endPar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Notify members when they have pending payments or unsettled balances.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REFERENCE</a:t>
            </a:r>
            <a:endPar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indent="-457200">
              <a:buAutoNum type="arabicPeriod"/>
            </a:pPr>
            <a:r>
              <a:rPr lang="en-IN" sz="2400" b="1" dirty="0">
                <a:latin typeface="Times New Roman" panose="02020603050405020304" charset="0"/>
                <a:cs typeface="Times New Roman" panose="02020603050405020304" charset="0"/>
                <a:sym typeface="+mn-ea"/>
              </a:rPr>
              <a:t>OracleJavaDocumentation</a:t>
            </a:r>
            <a:r>
              <a:rPr lang="en-IN" sz="2400" dirty="0">
                <a:latin typeface="Times New Roman" panose="02020603050405020304" charset="0"/>
                <a:cs typeface="Times New Roman" panose="02020603050405020304" charset="0"/>
                <a:sym typeface="+mn-ea"/>
              </a:rPr>
              <a:t> </a:t>
            </a:r>
            <a:endParaRPr lang="en-IN" sz="2400" dirty="0">
              <a:latin typeface="Times New Roman" panose="02020603050405020304" charset="0"/>
              <a:cs typeface="Times New Roman" panose="02020603050405020304" charset="0"/>
              <a:sym typeface="+mn-ea"/>
            </a:endParaRPr>
          </a:p>
          <a:p>
            <a:pPr marL="457200" lvl="1" indent="457200">
              <a:buNone/>
            </a:pPr>
            <a:r>
              <a:rPr lang="en-IN" sz="2400" dirty="0">
                <a:latin typeface="Times New Roman" panose="02020603050405020304" charset="0"/>
                <a:cs typeface="Times New Roman" panose="02020603050405020304" charset="0"/>
                <a:sym typeface="+mn-ea"/>
              </a:rPr>
              <a:t>https://docs.oracle.com/</a:t>
            </a:r>
            <a:r>
              <a:rPr lang="en-IN" sz="2400" dirty="0" err="1">
                <a:latin typeface="Times New Roman" panose="02020603050405020304" charset="0"/>
                <a:cs typeface="Times New Roman" panose="02020603050405020304" charset="0"/>
                <a:sym typeface="+mn-ea"/>
              </a:rPr>
              <a:t>en</a:t>
            </a:r>
            <a:r>
              <a:rPr lang="en-IN" sz="2400" dirty="0">
                <a:latin typeface="Times New Roman" panose="02020603050405020304" charset="0"/>
                <a:cs typeface="Times New Roman" panose="02020603050405020304" charset="0"/>
                <a:sym typeface="+mn-ea"/>
              </a:rPr>
              <a:t>/java/⁠</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Mysql Documentation</a:t>
            </a:r>
            <a:endParaRPr lang="en-IN" sz="2400" b="1" dirty="0">
              <a:latin typeface="Times New Roman" panose="02020603050405020304" charset="0"/>
              <a:cs typeface="Times New Roman" panose="02020603050405020304" charset="0"/>
            </a:endParaRPr>
          </a:p>
          <a:p>
            <a:pPr marL="457200" lvl="1" indent="457200">
              <a:buNone/>
            </a:pPr>
            <a:r>
              <a:rPr lang="en-IN" sz="2400" dirty="0">
                <a:latin typeface="Times New Roman" panose="02020603050405020304" charset="0"/>
                <a:cs typeface="Times New Roman" panose="02020603050405020304" charset="0"/>
                <a:sym typeface="+mn-ea"/>
              </a:rPr>
              <a:t>https://dev.mysql.com/doc/⁠</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W3Schools – Java Tutorial</a:t>
            </a:r>
            <a:endParaRPr lang="en-IN" sz="2400" dirty="0">
              <a:latin typeface="Times New Roman" panose="02020603050405020304" charset="0"/>
              <a:cs typeface="Times New Roman" panose="02020603050405020304" charset="0"/>
              <a:sym typeface="+mn-ea"/>
            </a:endParaRPr>
          </a:p>
          <a:p>
            <a:pPr marL="457200" lvl="1" indent="457200">
              <a:buNone/>
            </a:pPr>
            <a:r>
              <a:rPr lang="en-IN" sz="2400" dirty="0">
                <a:latin typeface="Times New Roman" panose="02020603050405020304" charset="0"/>
                <a:cs typeface="Times New Roman" panose="02020603050405020304" charset="0"/>
                <a:sym typeface="+mn-ea"/>
              </a:rPr>
              <a:t>https://www.w3schools.com/java/⁠</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G</a:t>
            </a:r>
            <a:r>
              <a:rPr lang="en-IN" sz="2400" b="1" dirty="0">
                <a:latin typeface="Times New Roman" panose="02020603050405020304" charset="0"/>
                <a:cs typeface="Times New Roman" panose="02020603050405020304" charset="0"/>
                <a:sym typeface="+mn-ea"/>
              </a:rPr>
              <a:t>eeksforGeeks</a:t>
            </a:r>
            <a:endParaRPr lang="en-IN" sz="2400" dirty="0">
              <a:latin typeface="Times New Roman" panose="02020603050405020304" charset="0"/>
              <a:cs typeface="Times New Roman" panose="02020603050405020304" charset="0"/>
            </a:endParaRPr>
          </a:p>
          <a:p>
            <a:pPr marL="914400" lvl="2" indent="0">
              <a:buNone/>
            </a:pPr>
            <a:r>
              <a:rPr lang="en-IN" sz="2400" dirty="0">
                <a:latin typeface="Times New Roman" panose="02020603050405020304" charset="0"/>
                <a:cs typeface="Times New Roman" panose="02020603050405020304" charset="0"/>
                <a:sym typeface="+mn-ea"/>
              </a:rPr>
              <a:t>https://www.geeksforgeeks.org/⁠</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Google Scholar – Research Papers</a:t>
            </a:r>
            <a:endParaRPr lang="en-IN" sz="2400" b="1" dirty="0">
              <a:latin typeface="Times New Roman" panose="02020603050405020304" charset="0"/>
              <a:cs typeface="Times New Roman" panose="02020603050405020304" charset="0"/>
            </a:endParaRPr>
          </a:p>
          <a:p>
            <a:pPr marL="457200" lvl="1" indent="457200">
              <a:buNone/>
            </a:pPr>
            <a:r>
              <a:rPr lang="en-IN" sz="2400" dirty="0">
                <a:latin typeface="Times New Roman" panose="02020603050405020304" charset="0"/>
                <a:cs typeface="Times New Roman" panose="02020603050405020304" charset="0"/>
                <a:sym typeface="+mn-ea"/>
              </a:rPr>
              <a:t>https://scholar.google.com/⁠</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83" name="Shape 244"/>
        <p:cNvGrpSpPr/>
        <p:nvPr/>
      </p:nvGrpSpPr>
      <p:grpSpPr>
        <a:xfrm>
          <a:off x="0" y="0"/>
          <a:ext cx="0" cy="0"/>
          <a:chOff x="0" y="0"/>
          <a:chExt cx="0" cy="0"/>
        </a:xfrm>
      </p:grpSpPr>
      <p:pic>
        <p:nvPicPr>
          <p:cNvPr id="2097193" name="Google Shape;245;p9"/>
          <p:cNvPicPr preferRelativeResize="0"/>
          <p:nvPr/>
        </p:nvPicPr>
        <p:blipFill rotWithShape="1">
          <a:blip r:embed="rId1"/>
          <a:srcRect/>
          <a:stretch>
            <a:fillRect/>
          </a:stretch>
        </p:blipFill>
        <p:spPr>
          <a:xfrm>
            <a:off x="838200" y="0"/>
            <a:ext cx="10392697" cy="688280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4922</Words>
  <Application>WPS Presentation</Application>
  <PresentationFormat/>
  <Paragraphs>138</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Arial</vt:lpstr>
      <vt:lpstr>Calibri</vt:lpstr>
      <vt:lpstr>Times New Roman</vt:lpstr>
      <vt:lpstr>Times New Roman</vt:lpstr>
      <vt:lpstr>Noto Sans Symbols</vt:lpstr>
      <vt:lpstr>Segoe Print</vt:lpstr>
      <vt:lpstr>Microsoft YaHei</vt:lpstr>
      <vt:lpstr>Arial Unicode MS</vt:lpstr>
      <vt:lpstr>Office Theme</vt:lpstr>
      <vt:lpstr>K. RAMAKRISHNAN COLLEGE OF ENGINEERING (AUTONOMOUS), SAMAYAPURAM - TRICHY DEPARTMENT OF INFORMATION TECHNOLOGY  CGB1201 – JAVA PROGRAMMING</vt:lpstr>
      <vt:lpstr>PRESENTATION OVERVIEW</vt:lpstr>
      <vt:lpstr>PROJECT OBJECTIVE</vt:lpstr>
      <vt:lpstr>PROBLEM STATEMENT</vt:lpstr>
      <vt:lpstr>ARCHITECHTURE DIAGRAM</vt:lpstr>
      <vt:lpstr>MODULES USED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K.RAMAKRISHNAN COLLEGE OF ENGINEERING(AUTONOMOUS)</dc:title>
  <dc:creator>Narmatha Ravi</dc:creator>
  <cp:lastModifiedBy>Alagappan Kumar</cp:lastModifiedBy>
  <cp:revision>13</cp:revision>
  <dcterms:created xsi:type="dcterms:W3CDTF">2026-05-30T18:44:00Z</dcterms:created>
  <dcterms:modified xsi:type="dcterms:W3CDTF">2026-10-09T11:22:24Z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61BC92D531DB4EA48B0067F294758043_13</vt:lpwstr>
  </property>
</Properties>
</file>